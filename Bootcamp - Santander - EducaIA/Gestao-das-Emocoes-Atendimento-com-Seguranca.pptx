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DM Sans Medium"/>
      <p:regular r:id="rId12"/>
    </p:embeddedFont>
    <p:embeddedFont>
      <p:font typeface="DM Sans Medium"/>
      <p:regular r:id="rId13"/>
    </p:embeddedFont>
    <p:embeddedFont>
      <p:font typeface="DM Sans Medium"/>
      <p:regular r:id="rId14"/>
    </p:embeddedFont>
    <p:embeddedFont>
      <p:font typeface="DM Sans Medium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8266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Gestão das Emoções: Atendimento com Segurança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9972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Por que a Gestão das Emoções Importa na Portaria?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9738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de qualidade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também é segurança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todos.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1603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é 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"termômetro"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 o "espelho": Mantenha a calma, mesmo em situações tensas.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2211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Lidar com situações do dia a dia: morador impaciente, motorista com pressa ou visitante sem acesso.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091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Técnicas Rápidas de Autocontrole para Situações de Stress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42260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D3133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81178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50209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761" y="2706172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409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Pausa de 2 Segundos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89965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responder,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faça uma pequena pausa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Isso ajuda a evitar reações impulsivas.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842260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D3133"/>
          </a:solidFill>
          <a:ln/>
        </p:spPr>
      </p:sp>
      <p:sp>
        <p:nvSpPr>
          <p:cNvPr id="10" name="Shape 7"/>
          <p:cNvSpPr/>
          <p:nvPr/>
        </p:nvSpPr>
        <p:spPr>
          <a:xfrm>
            <a:off x="5216962" y="281178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1" name="Shape 8"/>
          <p:cNvSpPr/>
          <p:nvPr/>
        </p:nvSpPr>
        <p:spPr>
          <a:xfrm>
            <a:off x="6974860" y="250209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2706172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3409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Respiração 4-2-6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4256" y="389965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Inspire por 4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segundos,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prenda por 2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 por 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Repita até sentir mais calma.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2842260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D3133"/>
          </a:solidFill>
          <a:ln/>
        </p:spPr>
      </p:sp>
      <p:sp>
        <p:nvSpPr>
          <p:cNvPr id="16" name="Shape 12"/>
          <p:cNvSpPr/>
          <p:nvPr/>
        </p:nvSpPr>
        <p:spPr>
          <a:xfrm>
            <a:off x="9640133" y="281178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98032" y="250209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C9EF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2105" y="2706172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3409236"/>
            <a:ext cx="28547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Postura e Tom de Voz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897427" y="389965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e calmamente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"baixar o tom" da conversa e do ambiente.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793790" y="5585817"/>
            <a:ext cx="636996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 que Evitar para Não Piorar a Situação:</a:t>
            </a:r>
            <a:endParaRPr lang="en-US" sz="2650" dirty="0"/>
          </a:p>
        </p:txBody>
      </p:sp>
      <p:sp>
        <p:nvSpPr>
          <p:cNvPr id="22" name="Text 17"/>
          <p:cNvSpPr/>
          <p:nvPr/>
        </p:nvSpPr>
        <p:spPr>
          <a:xfrm>
            <a:off x="793790" y="63512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Discutir ou ironizar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Não leve para o lado pessoal.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793790" y="67934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 "acalmar"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Aumenta a irritação do outro.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793790" y="72356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Interromper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Deixe a pessoa expressar-se primeiro.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4689" y="439579"/>
            <a:ext cx="8271629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Método A.C.A.L.M.A.: Seu Guia Passo a Passo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2274689" y="1256348"/>
            <a:ext cx="637461" cy="956191"/>
          </a:xfrm>
          <a:prstGeom prst="roundRect">
            <a:avLst>
              <a:gd name="adj" fmla="val 360043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2473881" y="1585079"/>
            <a:ext cx="23895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071455" y="1415653"/>
            <a:ext cx="1992273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ncorar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071455" y="1760220"/>
            <a:ext cx="928425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Respire fundo, mantenha a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postura ereta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(Ex: "Um momento, por favor.")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74689" y="2371844"/>
            <a:ext cx="637461" cy="956191"/>
          </a:xfrm>
          <a:prstGeom prst="roundRect">
            <a:avLst>
              <a:gd name="adj" fmla="val 360043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2473881" y="2700576"/>
            <a:ext cx="23895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071455" y="2531150"/>
            <a:ext cx="1992273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alibrar a Voz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071455" y="2875717"/>
            <a:ext cx="928425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Fale em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 baixo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use frases curtas. (Ex: "Entendo sua preocupação.")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74689" y="3487341"/>
            <a:ext cx="637461" cy="956191"/>
          </a:xfrm>
          <a:prstGeom prst="roundRect">
            <a:avLst>
              <a:gd name="adj" fmla="val 360043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2473881" y="3816072"/>
            <a:ext cx="23895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071455" y="3646646"/>
            <a:ext cx="1992273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colher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71455" y="3991213"/>
            <a:ext cx="928425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 a emoção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 concordar com a atitude. (Ex: "Percebo que está frustrado.")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74689" y="4602837"/>
            <a:ext cx="637461" cy="956191"/>
          </a:xfrm>
          <a:prstGeom prst="roundRect">
            <a:avLst>
              <a:gd name="adj" fmla="val 360043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2473881" y="4931569"/>
            <a:ext cx="23895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3071455" y="4762143"/>
            <a:ext cx="1992273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imitar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071455" y="5106710"/>
            <a:ext cx="928425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Reforce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respeito e regras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firmeza. (Ex: "Peço que mantenha a calma para prosseguirmos.")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74689" y="5718334"/>
            <a:ext cx="637461" cy="956191"/>
          </a:xfrm>
          <a:prstGeom prst="roundRect">
            <a:avLst>
              <a:gd name="adj" fmla="val 360043"/>
            </a:avLst>
          </a:prstGeom>
          <a:solidFill>
            <a:srgbClr val="4C5052"/>
          </a:solidFill>
          <a:ln/>
        </p:spPr>
      </p:sp>
      <p:sp>
        <p:nvSpPr>
          <p:cNvPr id="20" name="Text 18"/>
          <p:cNvSpPr/>
          <p:nvPr/>
        </p:nvSpPr>
        <p:spPr>
          <a:xfrm>
            <a:off x="2473881" y="6047065"/>
            <a:ext cx="23895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3071455" y="5877639"/>
            <a:ext cx="1992273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over para Solução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071455" y="6222206"/>
            <a:ext cx="928425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Ofereça o que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pode fazer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agora. (Ex: "Para resolver, preciso de algumas informações.")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274689" y="6833830"/>
            <a:ext cx="637461" cy="956191"/>
          </a:xfrm>
          <a:prstGeom prst="roundRect">
            <a:avLst>
              <a:gd name="adj" fmla="val 360043"/>
            </a:avLst>
          </a:prstGeom>
          <a:solidFill>
            <a:srgbClr val="4C5052"/>
          </a:solidFill>
          <a:ln/>
        </p:spPr>
      </p:sp>
      <p:sp>
        <p:nvSpPr>
          <p:cNvPr id="24" name="Text 22"/>
          <p:cNvSpPr/>
          <p:nvPr/>
        </p:nvSpPr>
        <p:spPr>
          <a:xfrm>
            <a:off x="2473881" y="7162562"/>
            <a:ext cx="23895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3071455" y="6993136"/>
            <a:ext cx="2008942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gradecer e Encerrar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071455" y="7337703"/>
            <a:ext cx="928425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Feche de forma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positiva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(Ex: "Agradeço sua compreensão. Tenha um bom dia.")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2390" y="382667"/>
            <a:ext cx="6206728" cy="43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Vigia x Vigilante: Diferenças na Prática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2390" y="1179314"/>
            <a:ext cx="4213741" cy="42137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32390" y="5548908"/>
            <a:ext cx="207871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 Papel do Vigia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932390" y="5947172"/>
            <a:ext cx="421374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 e Orienta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Atua preventivamente no fluxo de pessoas e veículos.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932390" y="6439019"/>
            <a:ext cx="421374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e Aciona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Anota ocorrências e contata apoio/polícia quando a comunicação não é suficiente.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32390" y="6930866"/>
            <a:ext cx="421374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 é a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mediação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segurança do local.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889" y="1179314"/>
            <a:ext cx="4213741" cy="42137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1889" y="5548908"/>
            <a:ext cx="207871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 Papel do Vigilante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91889" y="5947172"/>
            <a:ext cx="421374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Formação Específica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Age conforme POPs (Procedimentos Operacionais Padrão) e legislação.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491889" y="6439019"/>
            <a:ext cx="421374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Progressivo da Força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Aplica o nível necessário de força, se preciso, de forma proporcional.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91889" y="6930866"/>
            <a:ext cx="421374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 realizar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procedimentos mais específicos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segurança, quando habilitado.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932390" y="7630478"/>
            <a:ext cx="7529989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Lembre-se: Em ambos os casos, a 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prioridade é desescalar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 seguir o procedimento padrão.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523" y="960477"/>
            <a:ext cx="8006953" cy="101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Scripts e Fechamento: Transformando Tensão em Respeito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68523" y="2219206"/>
            <a:ext cx="8006953" cy="4087773"/>
          </a:xfrm>
          <a:prstGeom prst="roundRect">
            <a:avLst>
              <a:gd name="adj" fmla="val 596"/>
            </a:avLst>
          </a:prstGeom>
          <a:solidFill>
            <a:srgbClr val="4C5052"/>
          </a:solidFill>
          <a:ln/>
        </p:spPr>
      </p:sp>
      <p:sp>
        <p:nvSpPr>
          <p:cNvPr id="5" name="Shape 2"/>
          <p:cNvSpPr/>
          <p:nvPr/>
        </p:nvSpPr>
        <p:spPr>
          <a:xfrm>
            <a:off x="568523" y="2219206"/>
            <a:ext cx="8006953" cy="2518767"/>
          </a:xfrm>
          <a:prstGeom prst="roundRect">
            <a:avLst>
              <a:gd name="adj" fmla="val 967"/>
            </a:avLst>
          </a:prstGeom>
          <a:solidFill>
            <a:srgbClr val="AC9EF5"/>
          </a:solidFill>
          <a:ln/>
        </p:spPr>
      </p:sp>
      <p:sp>
        <p:nvSpPr>
          <p:cNvPr id="6" name="Text 3"/>
          <p:cNvSpPr/>
          <p:nvPr/>
        </p:nvSpPr>
        <p:spPr>
          <a:xfrm>
            <a:off x="730925" y="2381607"/>
            <a:ext cx="203061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Frases Chave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0925" y="2732842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"Como posso te ajudar?"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0925" y="3049429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"Preciso que me ajude a entender."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0925" y="3366016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"Por favor, vamos manter o respeito."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0925" y="3682603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"Minha função é garantir a segurança."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0925" y="3999190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"Estou aqui para encontrar uma solução."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0925" y="4315778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"Qual seria a melhor forma de resolver isso para você?"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8523" y="4737973"/>
            <a:ext cx="8006953" cy="1569006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68523" y="4737973"/>
            <a:ext cx="8006953" cy="22860"/>
          </a:xfrm>
          <a:prstGeom prst="roundRect">
            <a:avLst>
              <a:gd name="adj" fmla="val 106594"/>
            </a:avLst>
          </a:prstGeom>
          <a:solidFill>
            <a:srgbClr val="9284DB"/>
          </a:solidFill>
          <a:ln/>
        </p:spPr>
      </p:sp>
      <p:sp>
        <p:nvSpPr>
          <p:cNvPr id="15" name="Text 12"/>
          <p:cNvSpPr/>
          <p:nvPr/>
        </p:nvSpPr>
        <p:spPr>
          <a:xfrm>
            <a:off x="730925" y="4900374"/>
            <a:ext cx="361890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"Cartão de Bolso": 3 Passos Essenciais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30925" y="5251609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Respira (4-2-6)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Mantenha a calma interna.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0925" y="5568196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Font typeface="+mj-lt"/>
              <a:buAutoNum type="arabicPeriod" startAt="2"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("Entendo...")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Mostre empatia sem ceder.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0925" y="5884783"/>
            <a:ext cx="768215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Font typeface="+mj-lt"/>
              <a:buAutoNum type="arabicPeriod" startAt="3"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Direciona ("Pra resolver, preciso de...")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Foque na solução e no procedimento.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8523" y="6489621"/>
            <a:ext cx="800695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Resultado: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 aplicar estas técnicas, você não apenas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desescala conflitos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mas também constrói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respeito e confiança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Muitas vezes, um atendimento bem gerenciado pode até resultar em um pedido de desculpas e um reconhecimento do seu profissionalismo.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2026-01-14T17:01:07Z</dcterms:created>
  <dcterms:modified xsi:type="dcterms:W3CDTF">2026-01-14T17:01:07Z</dcterms:modified>
</cp:coreProperties>
</file>